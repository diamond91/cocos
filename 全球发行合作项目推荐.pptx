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8000"/>
            <a:ext cx="12188952" cy="1260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0"/>
            <a:ext cx="1146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全球发行合作项目推荐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86000"/>
            <a:ext cx="1146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D6E4F0"/>
                </a:solidFill>
                <a:latin typeface="Microsoft YaHei"/>
              </a:rPr>
              <a:t>轻量化 MMO / 模拟经营 / 塔防 / 卡牌 / SLG 项目合集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0" y="1944000"/>
            <a:ext cx="9308952" cy="216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998000"/>
            <a:ext cx="1146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8C0A"/>
                </a:solidFill>
                <a:latin typeface="Microsoft YaHei"/>
              </a:rPr>
              <a:t>10款高完成度产品  ·  寻找全球 / 海外发行合作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304000"/>
            <a:ext cx="1146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  <a:latin typeface="Microsoft YaHei"/>
              </a:rPr>
              <a:t>整理日期：2026年6月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共10款产品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900000"/>
            <a:ext cx="2795238" cy="900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954000"/>
            <a:ext cx="2795238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  <a:latin typeface="Microsoft YaHe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1278000"/>
            <a:ext cx="2795238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5C99"/>
                </a:solidFill>
                <a:latin typeface="Microsoft YaHei"/>
              </a:rPr>
              <a:t>款产品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" y="1494000"/>
            <a:ext cx="2795238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Microsoft YaHei"/>
              </a:rPr>
              <a:t>完成度均在 90%～100%，多数已达到可发行状态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3238" y="900000"/>
            <a:ext cx="2795238" cy="900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3238" y="954000"/>
            <a:ext cx="2795238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  <a:latin typeface="Microsoft YaHei"/>
              </a:rPr>
              <a:t>90%+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3238" y="1278000"/>
            <a:ext cx="2795238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5C99"/>
                </a:solidFill>
                <a:latin typeface="Microsoft YaHei"/>
              </a:rPr>
              <a:t>平均完成度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3238" y="1494000"/>
            <a:ext cx="2795238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Microsoft YaHei"/>
              </a:rPr>
              <a:t>部分项目已获大陆版号或完成大陆/东南亚授权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50476" y="900000"/>
            <a:ext cx="2795238" cy="900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50476" y="954000"/>
            <a:ext cx="2795238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  <a:latin typeface="Microsoft YaHei"/>
              </a:rPr>
              <a:t>竖版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0476" y="1278000"/>
            <a:ext cx="2795238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5C99"/>
                </a:solidFill>
                <a:latin typeface="Microsoft YaHei"/>
              </a:rPr>
              <a:t>移动端产品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0476" y="1494000"/>
            <a:ext cx="2795238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Microsoft YaHei"/>
              </a:rPr>
              <a:t>以竖版手游为主，适配主流移动端用户习惯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7714" y="900000"/>
            <a:ext cx="2795238" cy="900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17714" y="954000"/>
            <a:ext cx="2795238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  <a:latin typeface="Microsoft YaHei"/>
              </a:rPr>
              <a:t>全球/海外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7714" y="1278000"/>
            <a:ext cx="2795238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5C99"/>
                </a:solidFill>
                <a:latin typeface="Microsoft YaHei"/>
              </a:rPr>
              <a:t>发行诉求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7714" y="1494000"/>
            <a:ext cx="2795238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Microsoft YaHei"/>
              </a:rPr>
              <a:t>当前主要寻找全球或指定海外区域发行合作方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000" y="1944000"/>
            <a:ext cx="11828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Microsoft YaHei"/>
              </a:rPr>
              <a:t>品类覆盖：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7999" y="1954800"/>
            <a:ext cx="864000" cy="1512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999" y="1954800"/>
            <a:ext cx="8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模拟经营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5998" y="1954800"/>
            <a:ext cx="864000" cy="1512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5998" y="1954800"/>
            <a:ext cx="8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塔防策略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43997" y="1954800"/>
            <a:ext cx="864000" cy="1512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3997" y="1954800"/>
            <a:ext cx="8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卡牌中重度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1996" y="1954800"/>
            <a:ext cx="864000" cy="1512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1996" y="1954800"/>
            <a:ext cx="8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轻 MMO / SLG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79995" y="1954800"/>
            <a:ext cx="864000" cy="1512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9995" y="1954800"/>
            <a:ext cx="8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餐厅经营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97994" y="1954800"/>
            <a:ext cx="864000" cy="1512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97994" y="1954800"/>
            <a:ext cx="8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弹球 + 肉鸽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项目清单总览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10款产品一览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8000" y="846000"/>
          <a:ext cx="5291999" cy="56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/>
                <a:gridCol w="1152000"/>
                <a:gridCol w="1620000"/>
                <a:gridCol w="468000"/>
                <a:gridCol w="1007999"/>
                <a:gridCol w="720000"/>
              </a:tblGrid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项目名称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类型 / 题材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完成度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合作区域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测试方式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球球大改造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废土欧卡题材轻量化 MMO+SLG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全球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TapTap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心动特调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竖版模拟经营 IAP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全球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百度网盘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小岛日记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Q萌卡通风模拟经营 IAP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海外全球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TapTap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兔叽餐厅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竖版卡通混变模拟餐厅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除韩国外海外全球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微信搜索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神龙传说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三国题材模拟经营 + 塔防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海外全球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微信小游戏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寻光之旅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竖版二次元卡牌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全球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百度网盘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流浪侠客 / 幻想保卫战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Q萌卡通风塔防对战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海外全球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微信搜索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方圆之战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英雄养成 + 轻度 SLG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全球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测试链接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154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哥布林历险记 / 闪耀特工队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魔兽Q萌弹球+塔防+肉鸽卡牌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海外全球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下载链接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4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TinyDefenders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竖版卡通塔防 IAP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港澳台·欧美·日韩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</a:rPr>
                        <a:t>百度网盘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01 / 10  —  球球大改造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竖版废土欧卡题材轻量化 MMO + SLG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球球大改造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竖版废土欧卡题材轻量化 MMO + SLG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全球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2026/06/17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208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状态说明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000" y="208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2023年主体，约20人团队，已获投资；核心团队来自FP广分；大陆有版号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整体参考《无尽冬日》，但并非完全 1:1 照抄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参考成熟爆款方向，题材具备全球化表达空间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轻量化 MMO + SLG 适合中重度混合用户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已有版号和投资背景，商业化推进基础较好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TapTap 测试（2026/06/17–2026/06/24）
https://www.taptap.cn/app/800899?os=android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02 / 10  —  心动特调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竖版模拟经营 IAP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心动特调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竖版模拟经营 IAP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全球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2026/06/02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底层参考《MysticSpring Workshop》，该底层海外研发曾跑出约200万美元流水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完成度100%，具备快速测试和上线条件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底层玩法已有海外商业化验证（~200万美元流水）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IAP 模式适合长期运营和内容扩展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百度网盘：https://pan.baidu.com/s/1g1E1yrRs0wDiRIBCjVp6XQ
提取码：qbs8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03 / 10  —  小岛日记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 Q萌卡通风模拟经营 IAP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小岛日记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 Q萌卡通风模拟经营 IAP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海外全球（大陆已授权给定制方）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2026/06/02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208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状态说明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000" y="208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大陆已授权，给了定制方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Q萌卡通风格全球化适配度高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完成度100%，适合快速接入海外测试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已有大陆授权安排，海外权益相对清晰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TapTap：https://www.taptap.cn/app/751613?os=android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04 / 10  —  兔叽餐厅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竖版卡通混变模拟餐厅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兔叽餐厅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竖版卡通混变模拟餐厅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除韩国外海外全球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2026/06/17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玩法参考《Cat Snack Bar》和《Eatventure》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餐厅经营题材全球理解门槛低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参考产品在海外已有较强市场验证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竖版轻度经营适合移动端碎片化体验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微信搜索测试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05 / 10  —  神龙传说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竖版三国题材模拟经营 + 一步两步 Like 塔防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神龙传说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竖版三国题材模拟经营 + 一步两步 Like 塔防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海外全球（大陆已授权）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2026/06/17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208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状态说明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000" y="208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大陆已授权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玩法参考《一步两步》Like 塔防结构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三国题材在港澳台、东南亚、日韩具备认知基础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模拟经营 + 塔防组合提升玩法层次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完成度100%，具备较快推进可能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微信小游戏测试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06 / 10  —  寻光之旅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竖版二次元卡牌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寻光之旅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竖版二次元卡牌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全球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2026/06/09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战斗与养成底层参考《拳魂觉醒》+《最强斗王》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二次元卡牌具备成熟付费模型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竖版设计适配移动端用户习惯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适合重点评估角色美术与抽卡商业化空间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百度网盘：https://pan.baidu.com/s/1i4YzrtgLILuKjbB6fe3K-Q
提取码：ptmc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07 / 10  —  流浪侠客 / 幻想保卫战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 Q萌卡通风塔防对战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流浪侠客 / 幻想保卫战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 Q萌卡通风塔防对战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海外全球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2026/06/10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战斗参考《胡闹地牢》；养成与商业化参考《一步两步》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Q萌塔防适合轻中度用户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对战结构有助于提升长期留存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适合东南亚、港澳台、欧美轻度塔防市场测试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微信搜索测试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08 / 10  —  方圆之战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竖版卡通英雄养成 + 轻度 SLG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方圆之战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竖版卡通英雄养成 + 轻度 SLG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全球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英雄没有闪 Like + 水世界轻度 SLG 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英雄养成 + SLG 兼顾轻度与中度用户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竖版卡通包装降低进入门槛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适合重点验证前期留存、SLG 深度和付费节奏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测试链接：https://dev2.viking.noyagames.cn/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09 / 10  —  哥布林历险记 / 闪耀特工队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竖版魔兽 Q萌弹球 + 塔防 + 肉鸽卡牌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哥布林历险记 / 闪耀特工队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竖版魔兽 Q萌弹球 + 塔防 + 肉鸽卡牌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海外全球（大陆已授权）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208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状态说明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000" y="208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大陆已授权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多玩法融合，内容表达丰富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弹球+塔防+肉鸽卡牌组合具备差异化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魔兽Q萌题材适合海外幻想用户群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下载链接：http://d.hnys68.cn/j0bIVgLU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项目介绍  10 / 10  —  TinyDefenders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竖版卡通塔防 IAP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2088000" cy="570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1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91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TinyDefenders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151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类型 / 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151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竖版卡通塔防 IAP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385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完成度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1385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619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合作区域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1619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港澳台、欧美、日韩等海外区域（大陆、东南亚已授权）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1853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更新日期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1853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2087999"/>
            <a:ext cx="57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9"/>
                </a:solidFill>
                <a:latin typeface="Microsoft YaHei"/>
              </a:rPr>
              <a:t>状态说明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000" y="2087999"/>
            <a:ext cx="14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大陆、东南亚已授权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000" y="864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玩法参考 / 项目亮点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0000" y="1036800"/>
            <a:ext cx="28800" cy="108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000" y="1062000"/>
            <a:ext cx="9740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06060"/>
                </a:solidFill>
                <a:latin typeface="Microsoft YaHe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15300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产品亮点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16992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塔防品类成熟，全球用户认知清晰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18900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IAP 模式便于长期商业化运营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080800"/>
            <a:ext cx="9740952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icrosoft YaHei"/>
              </a:rPr>
              <a:t>▶  大陆和东南亚已授权，其余区域仍有合作空间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000" y="2307600"/>
            <a:ext cx="9740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Microsoft YaHei"/>
              </a:rPr>
              <a:t>测试方式 / 链接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2487600"/>
            <a:ext cx="9740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F5C99"/>
                </a:solidFill>
                <a:latin typeface="Microsoft YaHei"/>
              </a:rPr>
              <a:t>百度网盘：https://pan.baidu.com/s/1aN3M1Bo3uBnBiHtbylV_XQ?******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合作区域汇总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按项目分类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864000"/>
            <a:ext cx="2840238" cy="19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889200"/>
            <a:ext cx="2840238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全球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1115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000" y="1126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球球大改造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000" y="1349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1360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心动特调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000" y="1583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1594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寻光之旅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000" y="1817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1828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方圆之战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92238" y="864000"/>
            <a:ext cx="2840238" cy="19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2238" y="889200"/>
            <a:ext cx="2840238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海外全球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8238" y="1115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8238" y="1126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小岛日记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8238" y="1349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8238" y="1360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神龙传说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28238" y="1583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28238" y="1594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流浪侠客 / 幻想保卫战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28238" y="1817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8238" y="1828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哥布林历险记 / 闪耀特工队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4476" y="864000"/>
            <a:ext cx="2840238" cy="19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4476" y="889200"/>
            <a:ext cx="2840238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除韩国外海外全球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40476" y="1115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40476" y="1126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兔叽餐厅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6714" y="864000"/>
            <a:ext cx="2840238" cy="1980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6714" y="889200"/>
            <a:ext cx="2840238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指定海外区域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2714" y="1115999"/>
            <a:ext cx="2768238" cy="198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52714" y="1126799"/>
            <a:ext cx="276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5C"/>
                </a:solidFill>
                <a:latin typeface="Microsoft YaHei"/>
              </a:rPr>
              <a:t>TinyDefenders（港澳台、欧美、日韩等）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推荐优先级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分梯队评估建议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864000"/>
            <a:ext cx="5842477" cy="1800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871200"/>
            <a:ext cx="5842477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第一梯队  —  重点评估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098000"/>
            <a:ext cx="5842477" cy="280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999" y="1112400"/>
            <a:ext cx="115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Microsoft YaHei"/>
              </a:rPr>
              <a:t>球球大改造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1242000"/>
            <a:ext cx="5662476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icrosoft YaHei"/>
              </a:rPr>
              <a:t>有版号/投资背景，轻 MMO+SLG，市场空间大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1414800"/>
            <a:ext cx="5842477" cy="280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999" y="1429200"/>
            <a:ext cx="115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Microsoft YaHei"/>
              </a:rPr>
              <a:t>心动特调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99" y="1558800"/>
            <a:ext cx="5662476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icrosoft YaHei"/>
              </a:rPr>
              <a:t>完成度100%，底层玩法已有海外流水验证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1731600"/>
            <a:ext cx="5842477" cy="280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999" y="1746000"/>
            <a:ext cx="115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Microsoft YaHei"/>
              </a:rPr>
              <a:t>小岛日记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99" y="1875600"/>
            <a:ext cx="5662476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icrosoft YaHei"/>
              </a:rPr>
              <a:t>Q萌模拟经营，全球适配度高，权益清晰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2048400"/>
            <a:ext cx="5842477" cy="280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999" y="2062800"/>
            <a:ext cx="115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Microsoft YaHei"/>
              </a:rPr>
              <a:t>TinyDefenders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999" y="2192400"/>
            <a:ext cx="5662476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icrosoft YaHei"/>
              </a:rPr>
              <a:t>塔防 IAP，品类清晰，港澳台/欧美/日韩可谈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6476" y="864000"/>
            <a:ext cx="5842477" cy="180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6476" y="871200"/>
            <a:ext cx="5842477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第二梯队  —  专项区域测试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6476" y="1098000"/>
            <a:ext cx="5842477" cy="23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8476" y="1112400"/>
            <a:ext cx="126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Microsoft YaHei"/>
              </a:rPr>
              <a:t>兔叽餐厅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476" y="1223999"/>
            <a:ext cx="5698477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Microsoft YaHei"/>
              </a:rPr>
              <a:t>欧美/东南亚餐厅经营，除韩国外全球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6476" y="1357200"/>
            <a:ext cx="5842477" cy="23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8476" y="1371600"/>
            <a:ext cx="126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Microsoft YaHei"/>
              </a:rPr>
              <a:t>神龙传说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476" y="1483199"/>
            <a:ext cx="5698477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Microsoft YaHei"/>
              </a:rPr>
              <a:t>三国题材适合港澳台/东南亚/日韩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6476" y="1616400"/>
            <a:ext cx="5842477" cy="23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8476" y="1630800"/>
            <a:ext cx="126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Microsoft YaHei"/>
              </a:rPr>
              <a:t>寻光之旅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8476" y="1742399"/>
            <a:ext cx="5698477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Microsoft YaHei"/>
              </a:rPr>
              <a:t>二次元卡牌，需重点评估美术与付费深度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6476" y="1875600"/>
            <a:ext cx="5842477" cy="23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8476" y="1890000"/>
            <a:ext cx="126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Microsoft YaHei"/>
              </a:rPr>
              <a:t>流浪侠客/幻想保卫战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8476" y="2001599"/>
            <a:ext cx="5698477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Microsoft YaHei"/>
              </a:rPr>
              <a:t>Q萌塔防对战，看爽感和长期养成循环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6476" y="2134800"/>
            <a:ext cx="5842477" cy="23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8476" y="2149200"/>
            <a:ext cx="126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Microsoft YaHei"/>
              </a:rPr>
              <a:t>哥布林历险记/闪耀特工队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8476" y="2260799"/>
            <a:ext cx="5698477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Microsoft YaHei"/>
              </a:rPr>
              <a:t>多玩法融合，需评估用户理解成本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6476" y="2394000"/>
            <a:ext cx="5842477" cy="23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8476" y="2408400"/>
            <a:ext cx="126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Microsoft YaHei"/>
              </a:rPr>
              <a:t>方圆之战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8476" y="2519999"/>
            <a:ext cx="5698477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Microsoft YaHei"/>
              </a:rPr>
              <a:t>英雄养成+轻SLG，需看数值与长线内容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发行评估建议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三维度评估框架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864000"/>
            <a:ext cx="3882984" cy="19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" y="874800"/>
            <a:ext cx="3882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产品侧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000" y="11160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11448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核心循环完整性与爽感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000" y="13608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000" y="13896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次留 / 三留 / 七留数据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000" y="16056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000" y="16344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数值成长节奏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000" y="18504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" y="18792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内容节奏与版本计划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000" y="20952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000" y="21240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本地化成本评估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6984" y="864000"/>
            <a:ext cx="3882984" cy="19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6984" y="874800"/>
            <a:ext cx="3882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商业化侧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44984" y="11160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98984" y="11448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IAP / 广告 / 混合变现模式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4984" y="13608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98984" y="13896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ARPPU 与付费率表现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44984" y="16056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98984" y="16344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买量素材可制作空间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44984" y="18504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8984" y="18792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LTV 预测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44984" y="20952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98984" y="21240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商业化深度与天花板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45968" y="864000"/>
            <a:ext cx="3882984" cy="198000"/>
          </a:xfrm>
          <a:prstGeom prst="rect">
            <a:avLst/>
          </a:prstGeom>
          <a:solidFill>
            <a:srgbClr val="F5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45968" y="874800"/>
            <a:ext cx="3882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合作侧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63968" y="11160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7968" y="11448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区域权益与授权限制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63968" y="13608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7968" y="13896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服务器与运营支持能力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63968" y="16056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7968" y="16344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版本更新计划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3968" y="18504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17968" y="18792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合作模式（独代/分成/联运）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63968" y="2095200"/>
            <a:ext cx="3846984" cy="21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7968" y="2124000"/>
            <a:ext cx="3738984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• 法务与合规审查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测试链接汇总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25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6E4F0"/>
                </a:solidFill>
                <a:latin typeface="Microsoft YaHei"/>
              </a:rPr>
              <a:t>一览表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8952" y="6624000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  <a:latin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8000" y="846000"/>
          <a:ext cx="5292000" cy="57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/>
                <a:gridCol w="792000"/>
                <a:gridCol w="3348000"/>
              </a:tblGrid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项目名称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测试方式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链接 / 说明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球球大改造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TapTap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https://www.taptap.cn/app/800899?os=android  （2026/06/17-24）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心动特调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百度网盘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https://pan.baidu.com/s/1g1E1yrRs0wDiRIBCjVp6XQ  提取码：qbs8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小岛日记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TapTap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https://www.taptap.cn/app/751613?os=android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兔叽餐厅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微信搜索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微信搜索测试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神龙传说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微信小游戏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微信小游戏测试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寻光之旅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百度网盘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https://pan.baidu.com/s/1i4YzrtgLILuKjbB6fe3K-Q  提取码：ptmc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流浪侠客/幻想保卫战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微信搜索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微信搜索测试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方圆之战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测试链接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https://dev2.viking.noyagames.cn/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哥布林历险记/闪耀特工队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下载链接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http://d.hnys68.cn/j0bIVgLU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TinyDefenders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百度网盘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Microsoft YaHei"/>
                        </a:rPr>
                        <a:t>https://pan.baidu.com/s/1aN3M1Bo3uBnBiHtbylV_XQ?******  提取码：9psb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432000"/>
            <a:ext cx="11468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下一步推进建议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000" y="972000"/>
            <a:ext cx="2311790" cy="1152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1026000"/>
            <a:ext cx="231179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8C0A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1368000"/>
            <a:ext cx="231179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初筛项目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602000"/>
            <a:ext cx="22577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6E4F0"/>
                </a:solidFill>
                <a:latin typeface="Microsoft YaHei"/>
              </a:rPr>
              <a:t>根据发行区域、品类偏好和团队资源，优先选择3-5款产品进行深度体验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2509790" y="972000"/>
            <a:ext cx="2311790" cy="1152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9790" y="1026000"/>
            <a:ext cx="231179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8C0A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9790" y="1368000"/>
            <a:ext cx="231179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试玩体验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5790" y="1602000"/>
            <a:ext cx="22577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6E4F0"/>
                </a:solidFill>
                <a:latin typeface="Microsoft YaHei"/>
              </a:rPr>
              <a:t>索取最新测试包及核心玩法视频，安排内部体验与评估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5580" y="972000"/>
            <a:ext cx="2311790" cy="1152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5580" y="1026000"/>
            <a:ext cx="231179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8C0A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5580" y="1368000"/>
            <a:ext cx="231179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确认权益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1580" y="1602000"/>
            <a:ext cx="22577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6E4F0"/>
                </a:solidFill>
                <a:latin typeface="Microsoft YaHei"/>
              </a:rPr>
              <a:t>核实可合作区域授权状态，明确法务与合规边界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1371" y="972000"/>
            <a:ext cx="2311790" cy="1152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1371" y="1026000"/>
            <a:ext cx="231179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8C0A"/>
                </a:solidFill>
                <a:latin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1371" y="1368000"/>
            <a:ext cx="231179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数据测试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7371" y="1602000"/>
            <a:ext cx="22577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6E4F0"/>
                </a:solidFill>
                <a:latin typeface="Microsoft YaHei"/>
              </a:rPr>
              <a:t>重点关注次留、七留、ARPPU、付费率、广告变现数据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7161" y="972000"/>
            <a:ext cx="2311790" cy="1152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7161" y="1026000"/>
            <a:ext cx="231179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8C0A"/>
                </a:solidFill>
                <a:latin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7161" y="1368000"/>
            <a:ext cx="231179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商务谈判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3161" y="1602000"/>
            <a:ext cx="22577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6E4F0"/>
                </a:solidFill>
                <a:latin typeface="Microsoft YaHei"/>
              </a:rPr>
              <a:t>确定合作模式（独代 / 全球 / 联运 / 保底分成 / 发行投资）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6462000"/>
            <a:ext cx="1146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E4F0"/>
                </a:solidFill>
                <a:latin typeface="Microsoft YaHei"/>
              </a:rPr>
              <a:t>感谢关注  ·  期待合作  ·  全球发行合作项目推荐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